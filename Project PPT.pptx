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146847059" r:id="rId9"/>
    <p:sldId id="2146847060" r:id="rId10"/>
    <p:sldId id="2146847061" r:id="rId11"/>
    <p:sldId id="268" r:id="rId12"/>
    <p:sldId id="2146847062"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6/13/2026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6/13/2026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6/13/2026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6/13/2026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6/13/2026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6/13/2026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6/13/2026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6/13/2026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6/13/2026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6/13/2026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6/13/2026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Natural_language_processing" TargetMode="External"/><Relationship Id="rId3" Type="http://schemas.openxmlformats.org/officeDocument/2006/relationships/hyperlink" Target="https://docs.replit.com/learn/projects-and-artifacts/replit-deployments" TargetMode="External"/><Relationship Id="rId7" Type="http://schemas.openxmlformats.org/officeDocument/2006/relationships/hyperlink" Target="https://en.wikipedia.org/wiki/Applicant_tracking_system" TargetMode="External"/><Relationship Id="rId2" Type="http://schemas.openxmlformats.org/officeDocument/2006/relationships/hyperlink" Target="https://console.groq.com/docs" TargetMode="External"/><Relationship Id="rId1" Type="http://schemas.openxmlformats.org/officeDocument/2006/relationships/slideLayout" Target="../slideLayouts/slideLayout2.xml"/><Relationship Id="rId6" Type="http://schemas.openxmlformats.org/officeDocument/2006/relationships/hyperlink" Target="https://react.dev/" TargetMode="External"/><Relationship Id="rId5" Type="http://schemas.openxmlformats.org/officeDocument/2006/relationships/hyperlink" Target="https://fastapi.tiangolo.com/" TargetMode="External"/><Relationship Id="rId4" Type="http://schemas.openxmlformats.org/officeDocument/2006/relationships/hyperlink" Target="https://ai.google.dev/"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i-resume-analyser--atibprac.replit.app/" TargetMode="External"/><Relationship Id="rId2" Type="http://schemas.openxmlformats.org/officeDocument/2006/relationships/hyperlink" Target="https://github.com/Atibali/AI-Resume-Analyser#ai-resume-analyz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AI Resume Analyzer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Atibali Minhajali Saiyed</a:t>
            </a:r>
          </a:p>
          <a:p>
            <a:pPr marL="457200" indent="-457200">
              <a:buAutoNum type="arabicPeriod"/>
            </a:pPr>
            <a:r>
              <a:rPr lang="en-US" sz="2000" b="1" dirty="0">
                <a:solidFill>
                  <a:schemeClr val="accent1">
                    <a:lumMod val="75000"/>
                  </a:schemeClr>
                </a:solidFill>
                <a:latin typeface="Arial"/>
                <a:cs typeface="Arial"/>
              </a:rPr>
              <a:t>College Name- </a:t>
            </a:r>
            <a:r>
              <a:rPr lang="en-US" sz="2000" b="1" dirty="0" err="1">
                <a:solidFill>
                  <a:schemeClr val="accent1">
                    <a:lumMod val="75000"/>
                  </a:schemeClr>
                </a:solidFill>
                <a:latin typeface="Arial"/>
                <a:cs typeface="Arial"/>
              </a:rPr>
              <a:t>Charusat</a:t>
            </a:r>
            <a:r>
              <a:rPr lang="en-US" sz="2000" b="1" dirty="0">
                <a:solidFill>
                  <a:schemeClr val="accent1">
                    <a:lumMod val="75000"/>
                  </a:schemeClr>
                </a:solidFill>
                <a:latin typeface="Arial"/>
                <a:cs typeface="Arial"/>
              </a:rPr>
              <a:t> University</a:t>
            </a:r>
          </a:p>
          <a:p>
            <a:pPr marL="457200" indent="-457200">
              <a:buAutoNum type="arabicPeriod"/>
            </a:pPr>
            <a:r>
              <a:rPr lang="en-US" sz="2000" b="1" dirty="0">
                <a:solidFill>
                  <a:schemeClr val="accent1">
                    <a:lumMod val="75000"/>
                  </a:schemeClr>
                </a:solidFill>
                <a:latin typeface="Arial"/>
                <a:cs typeface="Arial"/>
              </a:rPr>
              <a:t>Department- CE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a:latin typeface="Arial"/>
                <a:ea typeface="+mn-lt"/>
                <a:cs typeface="Arial"/>
              </a:rPr>
              <a:t>Problem Statement</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lgn="just">
              <a:buNone/>
            </a:pPr>
            <a:r>
              <a:rPr lang="en-US" sz="1600" dirty="0"/>
              <a:t>In today’s competitive job market, recruiters receive a massive number of resumes for each job opening, making manual screening inefficient and time-consuming. Most organizations rely on Applicant Tracking Systems (ATS) to filter candidates, but these systems primarily depend on keyword matching and basic formatting, often failing to capture the true relevance and quality of a candidate’s profile.</a:t>
            </a:r>
          </a:p>
          <a:p>
            <a:pPr marL="0" indent="0" algn="just">
              <a:buNone/>
            </a:pPr>
            <a:endParaRPr lang="en-US" sz="1600" dirty="0"/>
          </a:p>
          <a:p>
            <a:pPr marL="0" indent="0" algn="just">
              <a:buNone/>
            </a:pPr>
            <a:r>
              <a:rPr lang="en-US" sz="1600" dirty="0"/>
              <a:t>From the candidate’s perspective, there is a lack of clarity on how well their resume aligns with a specific job role. Many applicants struggle to optimize their resumes according to job descriptions, industry expectations, and ATS requirements. Existing tools either provide generic suggestions or lack personalized, job-specific feedback, leading to missed opportunities even for qualified candidates.</a:t>
            </a:r>
          </a:p>
          <a:p>
            <a:pPr marL="0" indent="0" algn="just">
              <a:buNone/>
            </a:pPr>
            <a:endParaRPr lang="en-US" sz="1600" dirty="0"/>
          </a:p>
          <a:p>
            <a:pPr marL="0" indent="0" algn="just">
              <a:buNone/>
            </a:pPr>
            <a:r>
              <a:rPr lang="en-US" sz="1600" dirty="0"/>
              <a:t>Additionally, resume evaluation processes are often inconsistent and subjective, resulting in unfair or inaccurate shortlisting. This highlights the need for an intelligent, automated system that can analyze resumes effectively, provide structured scoring, and deliver actionable insights tailored to job requirements, ensuring better alignment between candidates and recruiters.</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r>
              <a:rPr lang="en-US" sz="1600" dirty="0"/>
              <a:t>AI Resume Analyzer, is an intelligent web-based application designed to evaluate resumes against a given job description using Artificial Intelligence and rule-based analysis. Users can upload their resume in PDF format and provide job-specific details, after which the system processes the input and generates a structured evaluation. The platform leverages Large Language Models (LLMs) through APIs such as </a:t>
            </a:r>
            <a:r>
              <a:rPr lang="en-US" sz="1600" dirty="0" err="1"/>
              <a:t>Groq</a:t>
            </a:r>
            <a:r>
              <a:rPr lang="en-US" sz="1600" dirty="0"/>
              <a:t> and Gemini to perform deep semantic analysis of resume content.</a:t>
            </a:r>
          </a:p>
          <a:p>
            <a:pPr marL="305435" indent="-305435"/>
            <a:endParaRPr lang="en-US" sz="1600" dirty="0"/>
          </a:p>
          <a:p>
            <a:pPr marL="305435" indent="-305435"/>
            <a:r>
              <a:rPr lang="en-US" sz="1600" dirty="0"/>
              <a:t>The system combines AI-based understanding with heuristic techniques like keyword matching, ATS compatibility checks, and structural analysis to ensure accurate and consistent scoring. It evaluates resumes across multiple categories including skills match, content quality, formatting, and tone, and calculates a final weighted score. Additionally, it provides actionable feedback to help users improve their resumes according to industry standards and job requirements.</a:t>
            </a:r>
          </a:p>
          <a:p>
            <a:pPr marL="305435" indent="-305435"/>
            <a:endParaRPr lang="en-US" sz="1600" dirty="0"/>
          </a:p>
          <a:p>
            <a:pPr marL="305435" indent="-305435"/>
            <a:r>
              <a:rPr lang="en-US" sz="1600" dirty="0"/>
              <a:t>The solution also includes a user-friendly dashboard that allows users to view, manage, and revisit past resume analyses. By automating the evaluation process and providing job-specific insights, the system enhances resume quality, improves ATS performance, and bridges the gap between candidates and recruiter expectations.</a:t>
            </a:r>
            <a:endParaRPr lang="en-IN" sz="16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2389-8D07-BAF9-7275-E11B1E188D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BE2D86-35D0-1A30-09F7-60D3B3DBDC75}"/>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System  Approach</a:t>
            </a:r>
            <a:endParaRPr lang="en-US" sz="4400" dirty="0"/>
          </a:p>
        </p:txBody>
      </p:sp>
      <p:sp>
        <p:nvSpPr>
          <p:cNvPr id="2" name="Content Placeholder 1">
            <a:extLst>
              <a:ext uri="{FF2B5EF4-FFF2-40B4-BE49-F238E27FC236}">
                <a16:creationId xmlns:a16="http://schemas.microsoft.com/office/drawing/2014/main" id="{0AA045A1-2F0B-2EB7-4AC9-A809EFEEA5DD}"/>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r>
              <a:rPr lang="en-US" sz="1600" dirty="0"/>
              <a:t>Backend:</a:t>
            </a:r>
          </a:p>
          <a:p>
            <a:pPr marL="0" indent="0">
              <a:buNone/>
            </a:pPr>
            <a:r>
              <a:rPr lang="en-US" sz="1600" dirty="0"/>
              <a:t>	Python 3.11</a:t>
            </a:r>
          </a:p>
          <a:p>
            <a:pPr marL="0" indent="0">
              <a:buNone/>
            </a:pPr>
            <a:r>
              <a:rPr lang="en-US" sz="1600" dirty="0"/>
              <a:t>	</a:t>
            </a:r>
            <a:r>
              <a:rPr lang="en-US" sz="1600" dirty="0" err="1"/>
              <a:t>FastAPI</a:t>
            </a:r>
            <a:r>
              <a:rPr lang="en-US" sz="1600" dirty="0"/>
              <a:t> + </a:t>
            </a:r>
            <a:r>
              <a:rPr lang="en-US" sz="1600" dirty="0" err="1"/>
              <a:t>Uvicorn</a:t>
            </a:r>
            <a:endParaRPr lang="en-US" sz="1600" dirty="0"/>
          </a:p>
          <a:p>
            <a:pPr marL="0" indent="0">
              <a:buNone/>
            </a:pPr>
            <a:r>
              <a:rPr lang="en-US" sz="1600" dirty="0"/>
              <a:t>	</a:t>
            </a:r>
            <a:r>
              <a:rPr lang="en-US" sz="1600" dirty="0" err="1"/>
              <a:t>SQLAlchemy</a:t>
            </a:r>
            <a:r>
              <a:rPr lang="en-US" sz="1600" dirty="0"/>
              <a:t> (SQLite / PostgreSQL)</a:t>
            </a:r>
          </a:p>
          <a:p>
            <a:pPr marL="0" indent="0">
              <a:buNone/>
            </a:pPr>
            <a:r>
              <a:rPr lang="en-US" sz="1600" dirty="0"/>
              <a:t>	</a:t>
            </a:r>
            <a:r>
              <a:rPr lang="en-US" sz="1600" dirty="0" err="1"/>
              <a:t>Groq</a:t>
            </a:r>
            <a:r>
              <a:rPr lang="en-US" sz="1600" dirty="0"/>
              <a:t> API (</a:t>
            </a:r>
            <a:r>
              <a:rPr lang="en-US" sz="1600" dirty="0" err="1"/>
              <a:t>LLaMA</a:t>
            </a:r>
            <a:r>
              <a:rPr lang="en-US" sz="1600" dirty="0"/>
              <a:t> models)</a:t>
            </a:r>
          </a:p>
          <a:p>
            <a:pPr marL="0" indent="0">
              <a:buNone/>
            </a:pPr>
            <a:r>
              <a:rPr lang="en-US" sz="1600" dirty="0"/>
              <a:t>	Google Gemini (Fallback AI)</a:t>
            </a:r>
          </a:p>
          <a:p>
            <a:pPr marL="305435" indent="-305435"/>
            <a:r>
              <a:rPr lang="en-US" sz="1600" dirty="0"/>
              <a:t>Frontend:</a:t>
            </a:r>
          </a:p>
          <a:p>
            <a:pPr marL="0" indent="0">
              <a:buNone/>
            </a:pPr>
            <a:r>
              <a:rPr lang="en-US" sz="1600" dirty="0"/>
              <a:t>	React 19 + TypeScript</a:t>
            </a:r>
          </a:p>
          <a:p>
            <a:pPr marL="0" indent="0">
              <a:buNone/>
            </a:pPr>
            <a:r>
              <a:rPr lang="en-US" sz="1600" dirty="0"/>
              <a:t>	Vite</a:t>
            </a:r>
          </a:p>
          <a:p>
            <a:pPr marL="0" indent="0">
              <a:buNone/>
            </a:pPr>
            <a:r>
              <a:rPr lang="en-US" sz="1600" dirty="0"/>
              <a:t>	Tailwind CSS</a:t>
            </a:r>
          </a:p>
          <a:p>
            <a:pPr marL="0" indent="0">
              <a:buNone/>
            </a:pPr>
            <a:r>
              <a:rPr lang="en-US" sz="1600" dirty="0"/>
              <a:t>	</a:t>
            </a:r>
            <a:r>
              <a:rPr lang="en-US" sz="1600" dirty="0" err="1"/>
              <a:t>Zustand</a:t>
            </a:r>
            <a:r>
              <a:rPr lang="en-US" sz="1600" dirty="0"/>
              <a:t> (State Management)</a:t>
            </a:r>
          </a:p>
          <a:p>
            <a:pPr marL="305435" indent="-305435"/>
            <a:r>
              <a:rPr lang="en-IN" sz="1600" dirty="0"/>
              <a:t>PDF Processing:</a:t>
            </a:r>
          </a:p>
          <a:p>
            <a:pPr marL="0" indent="0">
              <a:buNone/>
            </a:pPr>
            <a:r>
              <a:rPr lang="en-IN" sz="1600" dirty="0"/>
              <a:t>	</a:t>
            </a:r>
            <a:r>
              <a:rPr lang="en-IN" dirty="0" err="1"/>
              <a:t>pdfplumber</a:t>
            </a:r>
            <a:endParaRPr lang="en-IN" dirty="0"/>
          </a:p>
          <a:p>
            <a:pPr marL="0" indent="0">
              <a:buNone/>
            </a:pPr>
            <a:r>
              <a:rPr lang="en-IN" dirty="0"/>
              <a:t>	pdf2image</a:t>
            </a:r>
          </a:p>
        </p:txBody>
      </p:sp>
    </p:spTree>
    <p:extLst>
      <p:ext uri="{BB962C8B-B14F-4D97-AF65-F5344CB8AC3E}">
        <p14:creationId xmlns:p14="http://schemas.microsoft.com/office/powerpoint/2010/main" val="3356780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65838-809B-6B7B-5535-320F948EAD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DB7600-C49D-080D-DF3C-1E257CFDE96D}"/>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sz="4400" dirty="0"/>
          </a:p>
        </p:txBody>
      </p:sp>
      <p:sp>
        <p:nvSpPr>
          <p:cNvPr id="2" name="Content Placeholder 1">
            <a:extLst>
              <a:ext uri="{FF2B5EF4-FFF2-40B4-BE49-F238E27FC236}">
                <a16:creationId xmlns:a16="http://schemas.microsoft.com/office/drawing/2014/main" id="{C56ADF09-E2C7-4A2F-F19E-E68E7B085E46}"/>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US" dirty="0"/>
              <a:t>User uploads a PDF resume along with job description details.</a:t>
            </a:r>
          </a:p>
          <a:p>
            <a:r>
              <a:rPr lang="en-US" dirty="0"/>
              <a:t>The system extracts text from the resume using PDF processing tools.</a:t>
            </a:r>
          </a:p>
          <a:p>
            <a:r>
              <a:rPr lang="en-US" dirty="0"/>
              <a:t>AI model (</a:t>
            </a:r>
            <a:r>
              <a:rPr lang="en-US" dirty="0" err="1"/>
              <a:t>Groq</a:t>
            </a:r>
            <a:r>
              <a:rPr lang="en-US" dirty="0"/>
              <a:t>/Gemini) performs semantic analysis of the resume.</a:t>
            </a:r>
          </a:p>
          <a:p>
            <a:r>
              <a:rPr lang="en-US" dirty="0"/>
              <a:t>Keyword matching and structural heuristics are applied.</a:t>
            </a:r>
          </a:p>
          <a:p>
            <a:r>
              <a:rPr lang="en-US" dirty="0"/>
              <a:t>Scores are generated across five categories:</a:t>
            </a:r>
          </a:p>
          <a:p>
            <a:pPr lvl="1"/>
            <a:r>
              <a:rPr lang="en-US" dirty="0"/>
              <a:t>Skills Match (30%)</a:t>
            </a:r>
          </a:p>
          <a:p>
            <a:pPr lvl="1"/>
            <a:r>
              <a:rPr lang="en-US" dirty="0"/>
              <a:t>Content Quality (25%)</a:t>
            </a:r>
          </a:p>
          <a:p>
            <a:pPr lvl="1"/>
            <a:r>
              <a:rPr lang="en-US" dirty="0"/>
              <a:t>ATS Compatibility (20%)</a:t>
            </a:r>
          </a:p>
          <a:p>
            <a:pPr lvl="1"/>
            <a:r>
              <a:rPr lang="en-US" dirty="0"/>
              <a:t>Structure &amp; Formatting (15%)</a:t>
            </a:r>
          </a:p>
          <a:p>
            <a:pPr lvl="1"/>
            <a:r>
              <a:rPr lang="en-US" dirty="0"/>
              <a:t>Tone &amp; Style (10%)</a:t>
            </a:r>
          </a:p>
          <a:p>
            <a:r>
              <a:rPr lang="en-US" dirty="0"/>
              <a:t>Final score is calculated using weighted average.</a:t>
            </a:r>
          </a:p>
          <a:p>
            <a:r>
              <a:rPr lang="en-US" dirty="0"/>
              <a:t>Actionable feedback is generated for improvement.</a:t>
            </a:r>
          </a:p>
        </p:txBody>
      </p:sp>
    </p:spTree>
    <p:extLst>
      <p:ext uri="{BB962C8B-B14F-4D97-AF65-F5344CB8AC3E}">
        <p14:creationId xmlns:p14="http://schemas.microsoft.com/office/powerpoint/2010/main" val="4272500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125A9-FDAC-1DC5-388D-ECBB184A84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FF9A107-BF76-09C8-6577-121D11DBFB82}"/>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sz="4400" dirty="0"/>
          </a:p>
        </p:txBody>
      </p:sp>
      <p:pic>
        <p:nvPicPr>
          <p:cNvPr id="4" name="Content Placeholder 3">
            <a:extLst>
              <a:ext uri="{FF2B5EF4-FFF2-40B4-BE49-F238E27FC236}">
                <a16:creationId xmlns:a16="http://schemas.microsoft.com/office/drawing/2014/main" id="{C12A37CC-5FCF-A7D2-46B2-46A5C53D064C}"/>
              </a:ext>
            </a:extLst>
          </p:cNvPr>
          <p:cNvPicPr>
            <a:picLocks noGrp="1" noChangeAspect="1"/>
          </p:cNvPicPr>
          <p:nvPr>
            <p:ph idx="1"/>
          </p:nvPr>
        </p:nvPicPr>
        <p:blipFill>
          <a:blip r:embed="rId2"/>
          <a:stretch>
            <a:fillRect/>
          </a:stretch>
        </p:blipFill>
        <p:spPr>
          <a:xfrm>
            <a:off x="398788" y="1232452"/>
            <a:ext cx="4121944" cy="1793081"/>
          </a:xfrm>
          <a:prstGeom prst="rect">
            <a:avLst/>
          </a:prstGeom>
        </p:spPr>
      </p:pic>
      <p:pic>
        <p:nvPicPr>
          <p:cNvPr id="7" name="Picture 6">
            <a:extLst>
              <a:ext uri="{FF2B5EF4-FFF2-40B4-BE49-F238E27FC236}">
                <a16:creationId xmlns:a16="http://schemas.microsoft.com/office/drawing/2014/main" id="{144B0719-D82D-78D0-D2AB-399203472057}"/>
              </a:ext>
            </a:extLst>
          </p:cNvPr>
          <p:cNvPicPr>
            <a:picLocks noChangeAspect="1"/>
          </p:cNvPicPr>
          <p:nvPr/>
        </p:nvPicPr>
        <p:blipFill>
          <a:blip r:embed="rId3"/>
          <a:stretch>
            <a:fillRect/>
          </a:stretch>
        </p:blipFill>
        <p:spPr>
          <a:xfrm>
            <a:off x="6096000" y="1317879"/>
            <a:ext cx="4946333" cy="4114800"/>
          </a:xfrm>
          <a:prstGeom prst="rect">
            <a:avLst/>
          </a:prstGeom>
        </p:spPr>
      </p:pic>
      <p:pic>
        <p:nvPicPr>
          <p:cNvPr id="11" name="Picture 10">
            <a:extLst>
              <a:ext uri="{FF2B5EF4-FFF2-40B4-BE49-F238E27FC236}">
                <a16:creationId xmlns:a16="http://schemas.microsoft.com/office/drawing/2014/main" id="{897B9C09-FA0A-F581-ECF9-991E256C3867}"/>
              </a:ext>
            </a:extLst>
          </p:cNvPr>
          <p:cNvPicPr>
            <a:picLocks noChangeAspect="1"/>
          </p:cNvPicPr>
          <p:nvPr/>
        </p:nvPicPr>
        <p:blipFill>
          <a:blip r:embed="rId4"/>
          <a:stretch>
            <a:fillRect/>
          </a:stretch>
        </p:blipFill>
        <p:spPr>
          <a:xfrm>
            <a:off x="581192" y="3375279"/>
            <a:ext cx="3939540" cy="3482721"/>
          </a:xfrm>
          <a:prstGeom prst="rect">
            <a:avLst/>
          </a:prstGeom>
        </p:spPr>
      </p:pic>
    </p:spTree>
    <p:extLst>
      <p:ext uri="{BB962C8B-B14F-4D97-AF65-F5344CB8AC3E}">
        <p14:creationId xmlns:p14="http://schemas.microsoft.com/office/powerpoint/2010/main" val="511864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r>
              <a:rPr lang="en-US" sz="2000" dirty="0"/>
              <a:t>The AI Resume Analyzer demonstrates the effective use of Artificial Intelligence in recruitment and career development. By combining LLM-based semantic analysis with rule-based scoring, the system provides accurate, consistent, and scalable resume evaluation while reducing manual effort in the screening process.</a:t>
            </a:r>
          </a:p>
          <a:p>
            <a:r>
              <a:rPr lang="en-US" sz="2000" dirty="0"/>
              <a:t>It offers job-specific, actionable feedback that helps candidates improve their resumes and align better with recruiter expectations. The user-friendly interface and structured scoring system make the solution practical and accessible.</a:t>
            </a:r>
          </a:p>
          <a:p>
            <a:r>
              <a:rPr lang="en-US" sz="2000" dirty="0"/>
              <a:t>Overall, the project highlights how AI can be used to simplify complex processes and enable smarter, data-driven decisions in hiring.</a:t>
            </a:r>
          </a:p>
          <a:p>
            <a:pPr marL="0" indent="0">
              <a:buNone/>
            </a:pP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33E0D-5750-1059-45AB-D83AFD4830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D00C7C-835C-DA9F-C251-C8CF5EDB9106}"/>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Future Scope</a:t>
            </a:r>
            <a:endParaRPr lang="en-US" dirty="0"/>
          </a:p>
        </p:txBody>
      </p:sp>
      <p:sp>
        <p:nvSpPr>
          <p:cNvPr id="2" name="Content Placeholder 1">
            <a:extLst>
              <a:ext uri="{FF2B5EF4-FFF2-40B4-BE49-F238E27FC236}">
                <a16:creationId xmlns:a16="http://schemas.microsoft.com/office/drawing/2014/main" id="{0A0B2B03-1898-ADEB-F461-DA3E7A1762C0}"/>
              </a:ext>
            </a:extLst>
          </p:cNvPr>
          <p:cNvSpPr>
            <a:spLocks noGrp="1"/>
          </p:cNvSpPr>
          <p:nvPr>
            <p:ph idx="1"/>
          </p:nvPr>
        </p:nvSpPr>
        <p:spPr/>
        <p:txBody>
          <a:bodyPr>
            <a:normAutofit/>
          </a:bodyPr>
          <a:lstStyle/>
          <a:p>
            <a:r>
              <a:rPr lang="en-US" sz="2000" dirty="0"/>
              <a:t>Integration with LinkedIn for automatic profile import</a:t>
            </a:r>
          </a:p>
          <a:p>
            <a:r>
              <a:rPr lang="en-US" sz="2000" dirty="0"/>
              <a:t>Resume-job matching recommendation system</a:t>
            </a:r>
          </a:p>
          <a:p>
            <a:r>
              <a:rPr lang="en-US" sz="2000" dirty="0"/>
              <a:t>Advanced ML models for personalized scoring</a:t>
            </a:r>
          </a:p>
          <a:p>
            <a:r>
              <a:rPr lang="en-US" sz="2000" dirty="0"/>
              <a:t>Multi-language resume analysis</a:t>
            </a:r>
          </a:p>
          <a:p>
            <a:r>
              <a:rPr lang="en-US" sz="2000" dirty="0"/>
              <a:t>Real-time resume editing suggestions</a:t>
            </a:r>
          </a:p>
          <a:p>
            <a:r>
              <a:rPr lang="en-US" sz="2000" dirty="0"/>
              <a:t>Cloud deployment with user authentication and analytics dashboard</a:t>
            </a:r>
          </a:p>
        </p:txBody>
      </p:sp>
    </p:spTree>
    <p:extLst>
      <p:ext uri="{BB962C8B-B14F-4D97-AF65-F5344CB8AC3E}">
        <p14:creationId xmlns:p14="http://schemas.microsoft.com/office/powerpoint/2010/main" val="2676599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A39C82B0-CBA2-0FD2-0400-979E31AC4978}"/>
              </a:ext>
            </a:extLst>
          </p:cNvPr>
          <p:cNvSpPr txBox="1"/>
          <p:nvPr/>
        </p:nvSpPr>
        <p:spPr>
          <a:xfrm>
            <a:off x="668866" y="1525601"/>
            <a:ext cx="6096000" cy="369332"/>
          </a:xfrm>
          <a:prstGeom prst="rect">
            <a:avLst/>
          </a:prstGeom>
          <a:noFill/>
        </p:spPr>
        <p:txBody>
          <a:bodyPr wrap="square">
            <a:spAutoFit/>
          </a:bodyPr>
          <a:lstStyle/>
          <a:p>
            <a:r>
              <a:rPr lang="en-US" dirty="0" err="1">
                <a:hlinkClick r:id="rId2"/>
              </a:rPr>
              <a:t>Groq</a:t>
            </a:r>
            <a:r>
              <a:rPr lang="en-US" dirty="0">
                <a:hlinkClick r:id="rId2"/>
              </a:rPr>
              <a:t> API Documentation.</a:t>
            </a:r>
            <a:endParaRPr lang="en-IN" dirty="0"/>
          </a:p>
        </p:txBody>
      </p:sp>
      <p:sp>
        <p:nvSpPr>
          <p:cNvPr id="6" name="TextBox 5">
            <a:extLst>
              <a:ext uri="{FF2B5EF4-FFF2-40B4-BE49-F238E27FC236}">
                <a16:creationId xmlns:a16="http://schemas.microsoft.com/office/drawing/2014/main" id="{6868E3FB-22A7-E0B8-4581-182B6AF5A531}"/>
              </a:ext>
            </a:extLst>
          </p:cNvPr>
          <p:cNvSpPr txBox="1"/>
          <p:nvPr/>
        </p:nvSpPr>
        <p:spPr>
          <a:xfrm>
            <a:off x="668866" y="2118267"/>
            <a:ext cx="6096000" cy="369332"/>
          </a:xfrm>
          <a:prstGeom prst="rect">
            <a:avLst/>
          </a:prstGeom>
          <a:noFill/>
        </p:spPr>
        <p:txBody>
          <a:bodyPr wrap="square">
            <a:spAutoFit/>
          </a:bodyPr>
          <a:lstStyle/>
          <a:p>
            <a:r>
              <a:rPr lang="en-US" dirty="0" err="1">
                <a:hlinkClick r:id="rId3"/>
              </a:rPr>
              <a:t>Replit</a:t>
            </a:r>
            <a:r>
              <a:rPr lang="en-US" dirty="0">
                <a:hlinkClick r:id="rId3"/>
              </a:rPr>
              <a:t>  Publishing</a:t>
            </a:r>
            <a:endParaRPr lang="en-IN" dirty="0"/>
          </a:p>
        </p:txBody>
      </p:sp>
      <p:sp>
        <p:nvSpPr>
          <p:cNvPr id="4" name="TextBox 3">
            <a:extLst>
              <a:ext uri="{FF2B5EF4-FFF2-40B4-BE49-F238E27FC236}">
                <a16:creationId xmlns:a16="http://schemas.microsoft.com/office/drawing/2014/main" id="{C7B9D25B-C402-85E4-A12E-325655D105DC}"/>
              </a:ext>
            </a:extLst>
          </p:cNvPr>
          <p:cNvSpPr txBox="1"/>
          <p:nvPr/>
        </p:nvSpPr>
        <p:spPr>
          <a:xfrm>
            <a:off x="668866" y="2710933"/>
            <a:ext cx="6096000" cy="369332"/>
          </a:xfrm>
          <a:prstGeom prst="rect">
            <a:avLst/>
          </a:prstGeom>
          <a:noFill/>
        </p:spPr>
        <p:txBody>
          <a:bodyPr wrap="square">
            <a:spAutoFit/>
          </a:bodyPr>
          <a:lstStyle/>
          <a:p>
            <a:r>
              <a:rPr lang="it-IT" dirty="0">
                <a:hlinkClick r:id="rId4"/>
              </a:rPr>
              <a:t>Google Gemini (Google AI) Documentation</a:t>
            </a:r>
            <a:endParaRPr lang="en-IN" dirty="0"/>
          </a:p>
        </p:txBody>
      </p:sp>
      <p:sp>
        <p:nvSpPr>
          <p:cNvPr id="9" name="TextBox 8">
            <a:extLst>
              <a:ext uri="{FF2B5EF4-FFF2-40B4-BE49-F238E27FC236}">
                <a16:creationId xmlns:a16="http://schemas.microsoft.com/office/drawing/2014/main" id="{075D5B27-E89E-E1EB-4DB3-6FB6F37793FC}"/>
              </a:ext>
            </a:extLst>
          </p:cNvPr>
          <p:cNvSpPr txBox="1"/>
          <p:nvPr/>
        </p:nvSpPr>
        <p:spPr>
          <a:xfrm>
            <a:off x="668866" y="3303599"/>
            <a:ext cx="6096000" cy="369332"/>
          </a:xfrm>
          <a:prstGeom prst="rect">
            <a:avLst/>
          </a:prstGeom>
          <a:noFill/>
        </p:spPr>
        <p:txBody>
          <a:bodyPr wrap="square">
            <a:spAutoFit/>
          </a:bodyPr>
          <a:lstStyle/>
          <a:p>
            <a:r>
              <a:rPr lang="it-IT" dirty="0">
                <a:hlinkClick r:id="rId5"/>
              </a:rPr>
              <a:t>FastAPI Documentation</a:t>
            </a:r>
            <a:endParaRPr lang="en-IN" dirty="0"/>
          </a:p>
        </p:txBody>
      </p:sp>
      <p:sp>
        <p:nvSpPr>
          <p:cNvPr id="11" name="TextBox 10">
            <a:extLst>
              <a:ext uri="{FF2B5EF4-FFF2-40B4-BE49-F238E27FC236}">
                <a16:creationId xmlns:a16="http://schemas.microsoft.com/office/drawing/2014/main" id="{077EF04F-7580-F56D-E89E-464CF8646B72}"/>
              </a:ext>
            </a:extLst>
          </p:cNvPr>
          <p:cNvSpPr txBox="1"/>
          <p:nvPr/>
        </p:nvSpPr>
        <p:spPr>
          <a:xfrm>
            <a:off x="668866" y="3896265"/>
            <a:ext cx="6096000" cy="369332"/>
          </a:xfrm>
          <a:prstGeom prst="rect">
            <a:avLst/>
          </a:prstGeom>
          <a:noFill/>
        </p:spPr>
        <p:txBody>
          <a:bodyPr wrap="square">
            <a:spAutoFit/>
          </a:bodyPr>
          <a:lstStyle/>
          <a:p>
            <a:r>
              <a:rPr lang="it-IT" dirty="0">
                <a:hlinkClick r:id="rId6"/>
              </a:rPr>
              <a:t>React Documentation</a:t>
            </a:r>
            <a:endParaRPr lang="en-IN" dirty="0"/>
          </a:p>
        </p:txBody>
      </p:sp>
      <p:sp>
        <p:nvSpPr>
          <p:cNvPr id="12" name="TextBox 11">
            <a:extLst>
              <a:ext uri="{FF2B5EF4-FFF2-40B4-BE49-F238E27FC236}">
                <a16:creationId xmlns:a16="http://schemas.microsoft.com/office/drawing/2014/main" id="{4FEC05B5-85CA-4C9A-138C-499A7A9F3F21}"/>
              </a:ext>
            </a:extLst>
          </p:cNvPr>
          <p:cNvSpPr txBox="1"/>
          <p:nvPr/>
        </p:nvSpPr>
        <p:spPr>
          <a:xfrm>
            <a:off x="668866" y="4488931"/>
            <a:ext cx="6096000" cy="369332"/>
          </a:xfrm>
          <a:prstGeom prst="rect">
            <a:avLst/>
          </a:prstGeom>
          <a:noFill/>
        </p:spPr>
        <p:txBody>
          <a:bodyPr wrap="square">
            <a:spAutoFit/>
          </a:bodyPr>
          <a:lstStyle/>
          <a:p>
            <a:r>
              <a:rPr lang="en-US" dirty="0">
                <a:hlinkClick r:id="rId7"/>
              </a:rPr>
              <a:t>Research on Applicant Tracking Systems</a:t>
            </a:r>
            <a:endParaRPr lang="en-IN" dirty="0"/>
          </a:p>
        </p:txBody>
      </p:sp>
      <p:sp>
        <p:nvSpPr>
          <p:cNvPr id="13" name="TextBox 12">
            <a:extLst>
              <a:ext uri="{FF2B5EF4-FFF2-40B4-BE49-F238E27FC236}">
                <a16:creationId xmlns:a16="http://schemas.microsoft.com/office/drawing/2014/main" id="{36C5251A-279F-F345-C7EF-E68529897306}"/>
              </a:ext>
            </a:extLst>
          </p:cNvPr>
          <p:cNvSpPr txBox="1"/>
          <p:nvPr/>
        </p:nvSpPr>
        <p:spPr>
          <a:xfrm>
            <a:off x="668866" y="5081597"/>
            <a:ext cx="6096000" cy="369332"/>
          </a:xfrm>
          <a:prstGeom prst="rect">
            <a:avLst/>
          </a:prstGeom>
          <a:noFill/>
        </p:spPr>
        <p:txBody>
          <a:bodyPr wrap="square">
            <a:spAutoFit/>
          </a:bodyPr>
          <a:lstStyle/>
          <a:p>
            <a:r>
              <a:rPr lang="en-US" dirty="0">
                <a:hlinkClick r:id="rId8"/>
              </a:rPr>
              <a:t>Natural Language Processing (NLP) Overview</a:t>
            </a:r>
            <a:endParaRPr lang="en-IN"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 </a:t>
            </a:r>
            <a:r>
              <a:rPr lang="en-IN" dirty="0">
                <a:hlinkClick r:id="rId2"/>
              </a:rPr>
              <a:t>https://github.com/Atibali/AI-Resume-Analyser#ai-resume-analyzer</a:t>
            </a:r>
            <a:endParaRPr lang="en-IN" dirty="0"/>
          </a:p>
          <a:p>
            <a:r>
              <a:rPr lang="en-IN" dirty="0"/>
              <a:t>Deployment Link: </a:t>
            </a:r>
            <a:r>
              <a:rPr lang="en-IN" dirty="0">
                <a:hlinkClick r:id="rId3"/>
              </a:rPr>
              <a:t>https://ai-resume-analyser--atibprac.replit.app/</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1103</TotalTime>
  <Words>781</Words>
  <Application>Microsoft Office PowerPoint</Application>
  <PresentationFormat>Widescreen</PresentationFormat>
  <Paragraphs>80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Franklin Gothic Book</vt:lpstr>
      <vt:lpstr>Franklin Gothic Demi</vt:lpstr>
      <vt:lpstr>Wingdings 2</vt:lpstr>
      <vt:lpstr>DividendVTI</vt:lpstr>
      <vt:lpstr>AI Resume Analyzer</vt:lpstr>
      <vt:lpstr>OUTLINE</vt:lpstr>
      <vt:lpstr>Problem Statement</vt:lpstr>
      <vt:lpstr>Proposed Solution</vt:lpstr>
      <vt:lpstr>System  Approach</vt:lpstr>
      <vt:lpstr>Algorithm &amp; Deployment</vt:lpstr>
      <vt:lpstr>Result</vt:lpstr>
      <vt:lpstr>Conclusion</vt:lpstr>
      <vt:lpstr>Future Scope</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minhaj saiyed</cp:lastModifiedBy>
  <cp:revision>64</cp:revision>
  <dcterms:created xsi:type="dcterms:W3CDTF">2021-05-26T16:50:10Z</dcterms:created>
  <dcterms:modified xsi:type="dcterms:W3CDTF">2026-06-13T17:32:45Z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